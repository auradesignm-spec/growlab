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02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الطريقة القديمة</c:v>
                </c:pt>
              </c:strCache>
            </c:strRef>
          </c:tx>
          <c:spPr>
            <a:solidFill>
              <a:srgbClr val="8B93A1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1131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كاش إعلان
مقدماً</c:v>
                </c:pt>
                <c:pt idx="1">
                  <c:v>رسوم وكالة
ثابتة</c:v>
                </c:pt>
                <c:pt idx="2">
                  <c:v>دفع على
أداء فقط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50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74B-405C-A0ED-A69FA1CAC8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Growlab</c:v>
                </c:pt>
              </c:strCache>
            </c:strRef>
          </c:tx>
          <c:spPr>
            <a:solidFill>
              <a:srgbClr val="1F6FEB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1131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كاش إعلان
مقدماً</c:v>
                </c:pt>
                <c:pt idx="1">
                  <c:v>رسوم وكالة
ثابتة</c:v>
                </c:pt>
                <c:pt idx="2">
                  <c:v>دفع على
أداء فقط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74B-405C-A0ED-A69FA1CAC8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C6573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93A1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5C6573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العدد (توضيحي)</c:v>
                </c:pt>
              </c:strCache>
            </c:strRef>
          </c:tx>
          <c:spPr>
            <a:solidFill>
              <a:srgbClr val="1F6FEB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1131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مشاركات</c:v>
                </c:pt>
                <c:pt idx="1">
                  <c:v>زيارات رابط</c:v>
                </c:pt>
                <c:pt idx="2">
                  <c:v>مشتريات محصّلة</c:v>
                </c:pt>
                <c:pt idx="3">
                  <c:v>مشاركون جدد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95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E06-4B88-9009-7C3DD239F6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C6573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93A1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مؤشر فرصة الربح</c:v>
                </c:pt>
              </c:strCache>
            </c:strRef>
          </c:tx>
          <c:spPr>
            <a:solidFill>
              <a:srgbClr val="1F6FEB"/>
            </a:solidFill>
          </c:spPr>
          <c:invertIfNegative val="1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1131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مشارك
(رابط)</c:v>
                </c:pt>
                <c:pt idx="1">
                  <c:v>صانع
(UGC)</c:v>
                </c:pt>
                <c:pt idx="2">
                  <c:v>قصّاص
(Clip)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100</c:v>
                </c:pt>
                <c:pt idx="2">
                  <c:v>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09D-452A-A35D-43E90C4A10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5C6573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B93A1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153248" y="43434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1272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108960" cy="347472"/>
          </a:xfrm>
          <a:prstGeom prst="roundRect">
            <a:avLst>
              <a:gd name="adj" fmla="val 10000"/>
            </a:avLst>
          </a:prstGeom>
          <a:solidFill>
            <a:srgbClr val="D6E4FA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37160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شبكة توزيع أدائي عمانية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6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>
                <a:solidFill>
                  <a:srgbClr val="5C6573"/>
                </a:solidFill>
                <a:latin typeface="Arial"/>
                <a:ea typeface="Arial"/>
                <a:cs typeface="Arial"/>
              </a:rPr>
              <a:t>عميلك أفضل مسوّق لك.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افتح حملة بسقفك. زبون يشتري ويوصّي — وتدفع على زيارة وبيع محصّل فقط. لا إعلان مقدماً ولا وكالة.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72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A89B86"/>
                </a:solidFill>
                <a:latin typeface="Arial"/>
                <a:ea typeface="Arial"/>
                <a:cs typeface="Arial"/>
              </a:rPr>
              <a:t>مشاركة · UGC · قصّ · أداء · دفتر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172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١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الفكرة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من منتجك إلى شبكة توزيع أدائي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أنت في المركز: تفتح الحملة، تحدّد السقف، وتتابع الأداء. الشبكة — مشاركة، محتوى، قصّ — تشتغل لصالحك.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36576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50292" cy="3931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15798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٠١  التاجر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حملة + سقف + متجر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43200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يفتح حملة بسقف، يبني واجهة متجره، ويحدّد تسعير الأداء. يدفع على نتيجة فقط.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011680"/>
            <a:ext cx="36576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2011680"/>
            <a:ext cx="50292" cy="3931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215798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٠٢  زبونك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395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يشارك بعد الشراء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743200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بعد COD محصّل: رابط إحالة فوراً. المشاركة تكفي — التصوير اختياري يضاعف فرصة الربح.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011680"/>
            <a:ext cx="36576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2011680"/>
            <a:ext cx="50292" cy="3931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215798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٠٣  الشبكة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395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محتوى وقصّ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743200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UGC معتمد يدخل مكتبة. القصّاصون يوسّعون الوصول — سلسلة توزيع من كل بيعة.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المشكلة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تدفع مرتين… وما زلت تسأل: من وين الزباين؟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واتساب يرتّب الدردشة. الوكالة تبيع وعوداً. «نسوي لك متجر» مستهلك. ما في محرّك جلب زبائن يشتغل لك.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65960"/>
            <a:ext cx="548640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50292" cy="1920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112264"/>
            <a:ext cx="5166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5000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تمويل إعلان مقدماً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697480"/>
            <a:ext cx="51663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تدفع كاش قبل ما تعرف إذا الحملة جابت بيعة محصّلة.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965960"/>
            <a:ext cx="548640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965960"/>
            <a:ext cx="50292" cy="1920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2112264"/>
            <a:ext cx="5166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35000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وكالة بلا محاسبة أداء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697480"/>
            <a:ext cx="51663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وصول وتقارير… والطلبات ما زالت فوضى واتساب.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548640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023360"/>
            <a:ext cx="50292" cy="1920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4169664"/>
            <a:ext cx="5166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40740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«متجر إلكتروني» مستهلك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754880"/>
            <a:ext cx="51663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ما ناقصك واجهة — ناقصك ناس يوزّعون ودفتر يقفل الفضل.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023360"/>
            <a:ext cx="5486400" cy="1920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26480" y="4023360"/>
            <a:ext cx="50292" cy="19202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7648" y="4169664"/>
            <a:ext cx="5166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40740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زبائنك يضيعون كقناة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754880"/>
            <a:ext cx="51663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اشترى وراضٍ… وما في نظام يحوّله لشبكة توزيع تعمل لصالحك.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الحل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عميلك أفضل مسوّق — ادفع على أداء بسقف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Growlab تضيف قناة توزيع أدائي من زبائنك أنفسهم. واتساب يبقى للتواصل — والمتجر واجهة أنت تبنيها وتتحكم بها.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502920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300"/>
              </a:spcAft>
            </a:pPr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ما يثبّته Growlab:</a:t>
            </a:r>
          </a:p>
          <a:p>
            <a:pPr algn="r" rtl="1">
              <a:spcAft>
                <a:spcPts val="300"/>
              </a:spcAft>
            </a:pPr>
            <a:endParaRPr sz="1300" b="0">
              <a:solidFill>
                <a:srgbClr val="5C6573"/>
              </a:solidFill>
              <a:latin typeface="Arial"/>
              <a:ea typeface="Arial"/>
              <a:cs typeface="Arial"/>
            </a:endParaRPr>
          </a:p>
          <a:p>
            <a:pPr algn="r" rtl="1">
              <a:spcAft>
                <a:spcPts val="300"/>
              </a:spcAft>
            </a:pPr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• كل مشترٍ يحصل رابط مشاركة بعد التحصيل</a:t>
            </a:r>
          </a:p>
          <a:p>
            <a:pPr algn="r" rtl="1">
              <a:spcAft>
                <a:spcPts val="300"/>
              </a:spcAft>
            </a:pPr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• التصوير (UGC) اختياري — يضاعف فرصة الربح</a:t>
            </a:r>
          </a:p>
          <a:p>
            <a:pPr algn="r" rtl="1">
              <a:spcAft>
                <a:spcPts val="300"/>
              </a:spcAft>
            </a:pPr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• موافقة على المحتوى قبل دخول المكتبة</a:t>
            </a:r>
          </a:p>
          <a:p>
            <a:pPr algn="r" rtl="1">
              <a:spcAft>
                <a:spcPts val="300"/>
              </a:spcAft>
            </a:pPr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• قصّاصون يعيدون توزيع المقاطع المعتمدة</a:t>
            </a:r>
          </a:p>
          <a:p>
            <a:pPr algn="r" rtl="1">
              <a:spcAft>
                <a:spcPts val="300"/>
              </a:spcAft>
            </a:pPr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• التاجر يسعّر: زيارة · شراء · مشاهدة</a:t>
            </a:r>
          </a:p>
          <a:p>
            <a:pPr algn="r" rtl="1">
              <a:spcAft>
                <a:spcPts val="300"/>
              </a:spcAft>
            </a:pPr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• سقف ميزانية + إيقاف تلقائي</a:t>
            </a:r>
          </a:p>
          <a:p>
            <a:pPr algn="r" rtl="1">
              <a:spcAft>
                <a:spcPts val="300"/>
              </a:spcAft>
            </a:pPr>
            <a:endParaRPr sz="1300" b="0">
              <a:solidFill>
                <a:srgbClr val="5C6573"/>
              </a:solidFill>
              <a:latin typeface="Arial"/>
              <a:ea typeface="Arial"/>
              <a:cs typeface="Arial"/>
            </a:endParaRPr>
          </a:p>
          <a:p>
            <a:pPr algn="r" rtl="1">
              <a:spcAft>
                <a:spcPts val="300"/>
              </a:spcAft>
            </a:pPr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الزباين يزيدون من السلسلة — مو من فاتورة إعلان.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920240"/>
            <a:ext cx="594360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2057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أين يروح الكاش؟ (توضيحي)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5897880" y="2331720"/>
          <a:ext cx="56692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محرّك النمو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سلسلة تتغذى من كل بيعة محصّلة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مشاركة → زيارة → شراء → مشارك جديد → محتوى → قصّ → مشاركة أوسع. تتوسع طالما الميزانية والمنتج يستحقان.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57400"/>
            <a:ext cx="2176272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057400"/>
            <a:ext cx="50292" cy="38404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203704"/>
            <a:ext cx="1856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41448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شراء محصّل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88920"/>
            <a:ext cx="185623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COD يثبت الثقة.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24912" y="2057400"/>
            <a:ext cx="2176272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24912" y="2057400"/>
            <a:ext cx="50292" cy="38404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26080" y="2203704"/>
            <a:ext cx="1856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441448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رابط مشاركة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788920"/>
            <a:ext cx="185623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يفتح تلقائياً — بلا تصوير.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92624" y="2057400"/>
            <a:ext cx="2176272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92624" y="2057400"/>
            <a:ext cx="50292" cy="38404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93792" y="2203704"/>
            <a:ext cx="1856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2441448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UGC اختياري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3792" y="2788920"/>
            <a:ext cx="185623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موافقة → مكتبة.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0336" y="2057400"/>
            <a:ext cx="2176272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260336" y="2057400"/>
            <a:ext cx="50292" cy="38404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61504" y="2203704"/>
            <a:ext cx="1856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61504" y="2441448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قصّ وتوزيع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1504" y="2788920"/>
            <a:ext cx="185623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Clippers يوسّعون.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28048" y="2057400"/>
            <a:ext cx="2176272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28048" y="2057400"/>
            <a:ext cx="50292" cy="38404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29216" y="2203704"/>
            <a:ext cx="1856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9216" y="2441448"/>
            <a:ext cx="1856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مشتري جديد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9216" y="2788920"/>
            <a:ext cx="1856232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الدورة تعيد نفسها.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مسارات الدخل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المشاركة للجميع — التصوير يضاعف — القصّ يوسّع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ما في أحد مستبعد لأن ما عنده ستوديو. اللي ما يصور يشارك رابط؛ اللي يصور يدخل دور الصانع.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36576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50292" cy="3931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15798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٠١  مشارك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رابط فقط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43200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بعد الشراء: شارك واتساب/ستوري. تربح من زيارة المتجر والشراء المحصّل من رابطك.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011680"/>
            <a:ext cx="36576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2011680"/>
            <a:ext cx="50292" cy="3931920"/>
          </a:xfrm>
          <a:prstGeom prst="rect">
            <a:avLst/>
          </a:prstGeom>
          <a:solidFill>
            <a:srgbClr val="6F9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215798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٠٢  صانع Origin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395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UGC معتمد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743200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تصوّر ضمن شروط التاجر، ترفع الرابط للمراجعة، وبعد الموافقة أرباح أعلى + حصة من مبيعات القصّاصين.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011680"/>
            <a:ext cx="36576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2011680"/>
            <a:ext cx="50292" cy="3931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215798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٠٣  قصّاص Clipper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395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إعادة توزيع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743200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تقصّ من المكتبة المعتمدة وتنشر برابطك — فرصة دخل بلا تصوير من الصفر.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كيف يعمل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ثلاث خطوات من حملتك إلى مبيعات محصّلة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من فتح الحملة، إلى طلبات COD، إلى أداء يُقاس ويُصرف من سقفك.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36576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50292" cy="3931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15798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95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افتح حملة بسقف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43200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أضف المنتج، حدّد أسعار الأداء (زيارة/شراء)، وضع سقف ميزانية — بدون اشتراك.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011680"/>
            <a:ext cx="36576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2011680"/>
            <a:ext cx="50292" cy="3931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215798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395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شبكة التوزيع تشتغل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743200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زبائنك يشاركون. محتوى UGC معتمد يُقصّ ويُوزَّع. كل طلب COD يصل لوحتك.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011680"/>
            <a:ext cx="36576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2011680"/>
            <a:ext cx="50292" cy="3931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215798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395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ادفع على الأداء فقط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743200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بعد تأكيد التحصيل: خصم من سقف الحملة والدفتر. إيقاف تلقائي عند نفاد الميزانية.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التتبع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رابط واحد يقيس المشاركة حتى البيعة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مثال توضيحي: المشاركات تولّد زيارات، والزيارات تولّد مشتريات، والمشتريات تولّد مشاركين جدداً.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658368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حلقة الجلب (أرقام توضيحية)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94360" y="2331720"/>
          <a:ext cx="6309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229600" y="1920240"/>
            <a:ext cx="34747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50292" cy="9601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٢٠٠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423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مشاركة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971800"/>
            <a:ext cx="34747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971800"/>
            <a:ext cx="50292" cy="9601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٩٥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474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زيارة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023360"/>
            <a:ext cx="34747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4023360"/>
            <a:ext cx="50292" cy="9601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4160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٢٨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526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محصّل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5074920"/>
            <a:ext cx="34747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5074920"/>
            <a:ext cx="50292" cy="960120"/>
          </a:xfrm>
          <a:prstGeom prst="rect">
            <a:avLst/>
          </a:prstGeom>
          <a:solidFill>
            <a:srgbClr val="6F9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5212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٢٢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5577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مشارك جديد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للتجار والشركات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مزايا تشغيلية لصاحب النشاط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لا وعود عامة. هذه الآلية التي تحمي محفظتك وتجلب زبائن بأداء.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659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11226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سقف ميزانية أنت تضبطه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59736"/>
            <a:ext cx="333756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حدّد سقف الحملة. الصرف يتوقف تلقائياً عند النفاد — بلا فاتورة مفاجئة.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9659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96596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53128" y="211226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دفع على أداء محصّل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59736"/>
            <a:ext cx="333756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زيارة وبيع بعد تأكيد التحصيل. لا تمويل إعلان مقدماً ولا رسوم ثابتة بلا نتيجة.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659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96596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8" y="211226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دفتر مكشوف لكل طلب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459736"/>
            <a:ext cx="333756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مبيعة، أداء الشبكة، حصتك — سطر واحد لكل طلب COD. نفس الأرقام في لوحتك.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26110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متجرك بخطوات بسيطة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608576"/>
            <a:ext cx="333756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ابنِ واجهة على growlab.om/m/… — ذكاء اصطناعي، ألوان، عرض، ونشر. COD من المتجر.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51960" y="411480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53128" y="426110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شروط UGC أنت تكتبها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4608576"/>
            <a:ext cx="333756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مدة، إظهار منتج، ممنوعات — ثم موافقة قبل ما يُوزَّع باسم منتجك.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411480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47888" y="426110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شبكة توزيع تلقائية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4608576"/>
            <a:ext cx="333756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مشاركة → زيارة → شراء → مشاركة جديدة. ما تحتاج تدير كل مسوّق يدوياً.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متجرك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ابنِ متجرك خطوة بخطوة — مثل ووردبريس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مثل ووردبريس: اكتب، اختر لوناً، أضف عرضاً، وانشر. الذكاء الاصطناعي يجهّز البداية لك.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659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50292" cy="2011680"/>
          </a:xfrm>
          <a:prstGeom prst="rect">
            <a:avLst/>
          </a:prstGeom>
          <a:solidFill>
            <a:srgbClr val="6F9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11226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٠١  البداية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500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ذكاء اصطناعي أو يدوي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697480"/>
            <a:ext cx="33375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الذكاء الاصطناعي يقترح نصوصاً وألواناً من منتجاتك — يمكنك تعديل كل شيء بعدها.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9659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196596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53128" y="211226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٠٢  الهوية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3500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اسم وقصة المتجر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2697480"/>
            <a:ext cx="33375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ما يراه الزبون أول ما يفتح الرابط. نص عادي بلا HTML.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9659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20" y="196596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47888" y="211226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٠٣  المظهر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3500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لون وتخطيط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697480"/>
            <a:ext cx="33375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اختر لوناً وتخطيطاً — المعاينة تتحدث فوراً.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11480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426110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٠٤  العرض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4988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شريط أعلى المتجر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846320"/>
            <a:ext cx="33375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عروض موسمية أو افتتاح المتجر — أنت تتحكم بالنص.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51960" y="411480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53128" y="426110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٠٥  النشر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53128" y="44988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رابط خاص بك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4846320"/>
            <a:ext cx="33375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growlab.om/m/اسم-متجرك — منتجات، COD، وحلقة توزيع أدائي.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046720" y="411480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47888" y="426110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٠٦  التحكم الكامل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449884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عرضك، أسعارك، وسائطك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4846320"/>
            <a:ext cx="33375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واجهة بسيطة للتاجر. التوزيع الأدائي فوقها — مو بديل عنها.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التسعير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ادفع على الأداء — بسقف أنت تضبطه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بدون اشتراك. بدون رسوم تسجيل. تفتح حملة، تحدّد أسعار الأداء والسقف، وتدفع فقط على زيارة وبيع محصّل.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640080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الحدث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مشارك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صانع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قصّاص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زيارة متجر من الرابط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0.10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0.12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0.10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شراء محصّل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10٪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15٪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291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10٪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77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١٠٠٠ مشاهدة مؤهّلة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0.20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97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٠٫١٢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663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Bonus من قصّ المقطع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+3٪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5780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1920240"/>
            <a:ext cx="4937760" cy="4114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95160" y="2057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مؤشر فرصة الربح</a:t>
            </a:r>
          </a:p>
        </p:txBody>
      </p:sp>
      <p:graphicFrame>
        <p:nvGraphicFramePr>
          <p:cNvPr id="33" name="Chart 32"/>
          <p:cNvGraphicFramePr>
            <a:graphicFrameLocks noGrp="1"/>
          </p:cNvGraphicFramePr>
          <p:nvPr/>
        </p:nvGraphicFramePr>
        <p:xfrm>
          <a:off x="6858000" y="2377440"/>
          <a:ext cx="466344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الحوكمة والتحكم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قواعد تحمي محفظة التاجر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ست قواعد ثابتة في النظام — ليست وعوداً في العقد.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659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11226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سقف ميزانية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459736"/>
            <a:ext cx="333756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أنت تحدّد سقف الحملة. الصرف يتوقف تلقائياً عند النفاد.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9659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96596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53128" y="211226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تسعير أداء مقفول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59736"/>
            <a:ext cx="333756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أسعار الزيارة والشراء تُقفل عند فتح الحملة. لا تغيير بأثر رجعي.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6596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96596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8" y="211226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دفع بعد التحصيل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459736"/>
            <a:ext cx="333756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الأداء يُخصم من سقفك فقط بعد تأكيد تحصيل COD. احتياطي إرجاع 14 يوماً.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426110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دفتر شفاف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608576"/>
            <a:ext cx="333756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كل طلب سطر مستقل: المبيعة، أداء الشبكة، حصتك. رسوم البوابة صفر على النقد.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51960" y="411480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53128" y="426110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UGC معتمد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128" y="4608576"/>
            <a:ext cx="333756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المحتوى يمر بموافقتك قبل النشر. أنت تتحكم بما يُوزَّع باسم منتجك.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46720" y="4114800"/>
            <a:ext cx="50292" cy="2011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47888" y="4261104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إسناد تلقائي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4608576"/>
            <a:ext cx="3337560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كل زيارة وطلب مربوط بالحملة. لا نزاع على الفضل — الدفتر يقفله.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المقارنة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Growlab مقابل الإعلان والوكالة والمتجر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Growlab مقابل الخيارات المألوفة — من منظور التاجر.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4884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المعيار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2148840"/>
            <a:ext cx="4069080" cy="502920"/>
          </a:xfrm>
          <a:prstGeom prst="roundRect">
            <a:avLst>
              <a:gd name="adj" fmla="val 10000"/>
            </a:avLst>
          </a:prstGeom>
          <a:solidFill>
            <a:srgbClr val="D6E4FA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22402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مع Growlab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71816" y="2148840"/>
            <a:ext cx="4069080" cy="50292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08976" y="22402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بدونها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88920"/>
            <a:ext cx="29260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99008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جلب الزبائن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3008" y="2788920"/>
            <a:ext cx="4069080" cy="777240"/>
          </a:xfrm>
          <a:prstGeom prst="roundRect">
            <a:avLst>
              <a:gd name="adj" fmla="val 10000"/>
            </a:avLst>
          </a:prstGeom>
          <a:solidFill>
            <a:srgbClr val="D6E4FA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30168" y="29900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سلسلة مشاركة + محتوى + قصّ — زبائنك يصيرون قناة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71816" y="2788920"/>
            <a:ext cx="4069080" cy="77724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08976" y="29900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إعلان كاش مقدماً أو وكالة بلا ربط بالمبيعات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57600"/>
            <a:ext cx="29260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85876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ماذا تشتري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93008" y="3657600"/>
            <a:ext cx="4069080" cy="777240"/>
          </a:xfrm>
          <a:prstGeom prst="roundRect">
            <a:avLst>
              <a:gd name="adj" fmla="val 10000"/>
            </a:avLst>
          </a:prstGeom>
          <a:solidFill>
            <a:srgbClr val="D6E4FA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30168" y="38587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أداء بسقف ميزانية أنت تضبطه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71816" y="3657600"/>
            <a:ext cx="4069080" cy="77724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08976" y="38587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وعود وصول أو «متجر جديد»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26280"/>
            <a:ext cx="29260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472744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التكلفة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3008" y="4526280"/>
            <a:ext cx="4069080" cy="777240"/>
          </a:xfrm>
          <a:prstGeom prst="roundRect">
            <a:avLst>
              <a:gd name="adj" fmla="val 10000"/>
            </a:avLst>
          </a:prstGeom>
          <a:solidFill>
            <a:srgbClr val="D6E4FA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30168" y="47274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زيارة وبيع محصّل — إيقاف تلقائي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71816" y="4526280"/>
            <a:ext cx="4069080" cy="77724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08976" y="47274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رسوم ثابتة حتى لو فشلت الحملة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394960"/>
            <a:ext cx="29260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5596128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COD والدفتر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93008" y="5394960"/>
            <a:ext cx="4069080" cy="777240"/>
          </a:xfrm>
          <a:prstGeom prst="roundRect">
            <a:avLst>
              <a:gd name="adj" fmla="val 10000"/>
            </a:avLst>
          </a:prstGeom>
          <a:solidFill>
            <a:srgbClr val="D6E4FA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30168" y="55961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كل طلب سطر مكشوف: مبيعة، أداء، حصتك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71816" y="5394960"/>
            <a:ext cx="4069080" cy="77724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08976" y="55961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3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فوضى واتساب وتقارير بلا تحصيل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خريطة الطريق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من التسجيل إلى أول حملة توزيع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خمس خطوات واضحة للتاجر أو الشركة.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65960"/>
            <a:ext cx="5486400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50292" cy="402336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تاجر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14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١  سجّل حساب الشركة</a:t>
            </a:r>
          </a:p>
          <a:p>
            <a:pPr algn="r" rtl="1">
              <a:spcAft>
                <a:spcPts val="1200"/>
              </a:spcAft>
            </a:pPr>
            <a:r>
              <a:rPr sz="14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٢  أضف المنتج وافتح حملة</a:t>
            </a:r>
          </a:p>
          <a:p>
            <a:pPr algn="r" rtl="1">
              <a:spcAft>
                <a:spcPts val="1200"/>
              </a:spcAft>
            </a:pPr>
            <a:r>
              <a:rPr sz="14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٣  شبكة التوزيع تنطلق</a:t>
            </a:r>
          </a:p>
          <a:p>
            <a:pPr algn="r" rtl="1">
              <a:spcAft>
                <a:spcPts val="1200"/>
              </a:spcAft>
            </a:pPr>
            <a:r>
              <a:rPr sz="14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٤  أكّد طلبات COD</a:t>
            </a:r>
          </a:p>
          <a:p>
            <a:pPr algn="r" rtl="1">
              <a:spcAft>
                <a:spcPts val="1200"/>
              </a:spcAft>
            </a:pPr>
            <a:r>
              <a:rPr sz="14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٥  راقب الأداء والسقف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65960"/>
            <a:ext cx="5486400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965960"/>
            <a:ext cx="50292" cy="4023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148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5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الشبكة تعمل لك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5176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</a:pPr>
            <a:r>
              <a:rPr sz="14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١  زبائنك يشاركون بعد الشراء</a:t>
            </a:r>
          </a:p>
          <a:p>
            <a:pPr algn="r" rtl="1">
              <a:spcAft>
                <a:spcPts val="1200"/>
              </a:spcAft>
            </a:pPr>
            <a:r>
              <a:rPr sz="14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٢  محتوى UGC معتمد يُقصّ ويُوزَّع</a:t>
            </a:r>
          </a:p>
          <a:p>
            <a:pPr algn="r" rtl="1">
              <a:spcAft>
                <a:spcPts val="1200"/>
              </a:spcAft>
            </a:pPr>
            <a:r>
              <a:rPr sz="14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٣  كل زيارة وطلب COD يُنسب للحملة</a:t>
            </a:r>
          </a:p>
          <a:p>
            <a:pPr algn="r" rtl="1">
              <a:spcAft>
                <a:spcPts val="1200"/>
              </a:spcAft>
            </a:pPr>
            <a:r>
              <a:rPr sz="14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٤  أداء يُخصم من سقفك فقط</a:t>
            </a:r>
          </a:p>
          <a:p>
            <a:pPr algn="r" rtl="1">
              <a:spcAft>
                <a:spcPts val="1200"/>
              </a:spcAft>
            </a:pPr>
            <a:r>
              <a:rPr sz="14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٥  حلقة تتكرر بلا إدارة يدوية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مراحل البناء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نطلق السلسلة بأمان — ثم نفتح المشاهدات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36576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50292" cy="39319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215798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395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حملة + متجر + مشاركة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43200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رابط بعد التحصيل، متجر تاجر بسيط، أرباح زيارة وشراء، موافقة UGC، سقف ميزانية.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011680"/>
            <a:ext cx="36576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2011680"/>
            <a:ext cx="50292" cy="3931920"/>
          </a:xfrm>
          <a:prstGeom prst="rect">
            <a:avLst/>
          </a:prstGeom>
          <a:solidFill>
            <a:srgbClr val="6F9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53128" y="215798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395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القصّ والمضاعفة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743200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أدوات قصّ، مكافأة Origin من مبيعات Clipper، شرائح أداء.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011680"/>
            <a:ext cx="36576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2011680"/>
            <a:ext cx="50292" cy="3931920"/>
          </a:xfrm>
          <a:prstGeom prst="rect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47888" y="2157984"/>
            <a:ext cx="3337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1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39572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مشاهدة مؤهّلة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743200"/>
            <a:ext cx="3337560" cy="3090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تحقق أقوى للمشاهدات، اكتشاف مقاطع عالية أداء، حملات فئات.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المؤسس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مؤسس واحد، بناها شبكة توزيع لا متجر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قصي نادر النبراوي — مؤسس Growlab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65960"/>
            <a:ext cx="2468880" cy="365760"/>
          </a:xfrm>
          <a:prstGeom prst="roundRect">
            <a:avLst>
              <a:gd name="adj" fmla="val 10000"/>
            </a:avLst>
          </a:prstGeom>
          <a:solidFill>
            <a:srgbClr val="D6E4FA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>
                <a:solidFill>
                  <a:srgbClr val="1F6FEB"/>
                </a:solidFill>
                <a:latin typeface="Arial"/>
                <a:ea typeface="Arial"/>
                <a:cs typeface="Arial"/>
              </a:rPr>
              <a:t>طالب أمن سيبراني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1965960"/>
            <a:ext cx="2651760" cy="36576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20116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1">
                <a:solidFill>
                  <a:srgbClr val="5C6573"/>
                </a:solidFill>
                <a:latin typeface="Arial"/>
                <a:ea typeface="Arial"/>
                <a:cs typeface="Arial"/>
              </a:rPr>
              <a:t>٥ سنوات خبرة تسويق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0320"/>
            <a:ext cx="11277295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28346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7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أنا قصي، طالب أمن سيبراني قبل أي شيء. بنيت Growlab على سؤال «أين ثغرته؟» — لا على شعار تسويقي جاهز.</a:t>
            </a:r>
          </a:p>
          <a:p>
            <a:pPr algn="r" rtl="1">
              <a:spcAft>
                <a:spcPts val="1000"/>
              </a:spcAft>
            </a:pPr>
            <a:r>
              <a:rPr sz="17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منصة تدير ميزانيات تجار يجب أن تكون محصّنة من الاحتيال. وخمس سنوات تسويق فعلي تعني نظاماً لتاجر يحتاج زبائن بأداء من اليوم الأول.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«لا نربح إلا إذا ربحت. هذا كل الفرق.»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4114800"/>
            <a:ext cx="4572000" cy="3657600"/>
          </a:xfrm>
          <a:prstGeom prst="ellipse">
            <a:avLst/>
          </a:prstGeom>
          <a:solidFill>
            <a:srgbClr val="86EFAC">
              <a:alpha val="16000"/>
            </a:srgbClr>
          </a:solidFill>
          <a:ln>
            <a:noFill/>
          </a:ln>
          <a:effectLst>
            <a:softEdge rad="1206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4572000"/>
            <a:ext cx="5943600" cy="4114800"/>
          </a:xfrm>
          <a:prstGeom prst="ellipse">
            <a:avLst/>
          </a:prstGeom>
          <a:solidFill>
            <a:srgbClr val="FDE68A">
              <a:alpha val="18000"/>
            </a:srgbClr>
          </a:solidFill>
          <a:ln>
            <a:noFill/>
          </a:ln>
          <a:effectLst>
            <a:softEdge rad="127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1371600"/>
            <a:ext cx="6400800" cy="5943600"/>
          </a:xfrm>
          <a:prstGeom prst="ellipse">
            <a:avLst/>
          </a:prstGeom>
          <a:solidFill>
            <a:srgbClr val="FDBA74">
              <a:alpha val="22000"/>
            </a:srgbClr>
          </a:solidFill>
          <a:ln>
            <a:noFill/>
          </a:ln>
          <a:effectLst>
            <a:softEdge rad="13335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858000" y="-2011680"/>
            <a:ext cx="7315200" cy="6400800"/>
          </a:xfrm>
          <a:prstGeom prst="ellipse">
            <a:avLst/>
          </a:prstGeom>
          <a:solidFill>
            <a:srgbClr val="7DD3FC">
              <a:alpha val="32000"/>
            </a:srgbClr>
          </a:solidFill>
          <a:ln>
            <a:noFill/>
          </a:ln>
          <a:effectLst>
            <a:softEdge rad="1397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لنبدأ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جاهز تفتح أول حملة؟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5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احجز استشارة مجانية ١٥ دقيقة، أو تواصل معنا مباشرة على واتساب.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303520" cy="685800"/>
          </a:xfrm>
          <a:prstGeom prst="roundRect">
            <a:avLst>
              <a:gd name="adj" fmla="val 50000"/>
            </a:avLst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افتح حساب شركتك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103120"/>
            <a:ext cx="52120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8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+968 9784 4742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71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2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wa.me/96897844742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109728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  <a:effectLst>
            <a:outerShdw blurRad="279400" dist="76200" dir="2700000" algn="ctr" rotWithShape="0">
              <a:srgbClr val="0F172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0292" cy="2286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621024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400" b="1">
                <a:solidFill>
                  <a:srgbClr val="111318"/>
                </a:solidFill>
                <a:latin typeface="Arial"/>
                <a:ea typeface="Arial"/>
                <a:cs typeface="Arial"/>
              </a:rPr>
              <a:t>تاجر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68496"/>
            <a:ext cx="1065276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200"/>
              </a:spcAft>
            </a:pPr>
            <a:r>
              <a:rPr sz="1200" b="0">
                <a:solidFill>
                  <a:srgbClr val="5C6573"/>
                </a:solidFill>
                <a:latin typeface="Arial"/>
                <a:ea typeface="Arial"/>
                <a:cs typeface="Arial"/>
              </a:rPr>
              <a:t>حملة + سقف + متجر + شروط UGC + دفع على أداء محصّل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000" b="1">
                <a:solidFill>
                  <a:srgbClr val="8B93A1"/>
                </a:solidFill>
                <a:latin typeface="Arial"/>
                <a:ea typeface="Arial"/>
                <a:cs typeface="Arial"/>
              </a:rPr>
              <a:t>Growlab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/>
            <a:r>
              <a:rPr sz="1000" b="0">
                <a:solidFill>
                  <a:srgbClr val="8B93A1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1486</Words>
  <Application>Microsoft Office PowerPoint</Application>
  <PresentationFormat>شاشة عريضة</PresentationFormat>
  <Paragraphs>269</Paragraphs>
  <Slides>17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Qusay Nader Mohammed Alnabrawi</cp:lastModifiedBy>
  <cp:revision>2</cp:revision>
  <dcterms:created xsi:type="dcterms:W3CDTF">2013-01-27T09:14:16Z</dcterms:created>
  <dcterms:modified xsi:type="dcterms:W3CDTF">2026-08-23T14:17:56Z</dcterms:modified>
  <cp:category/>
</cp:coreProperties>
</file>